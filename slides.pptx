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FC0E0"/>
                </a:solidFill>
                <a:latin typeface="Calibri"/>
              </a:rPr>
              <a:t>SYNTHETIC BANKING DATA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 constrained, benchmarked generation pipeline</a:t>
            </a:r>
          </a:p>
          <a:p>
            <a:pPr algn="l"/>
            <a:r>
              <a:rPr sz="2000" b="0" i="0">
                <a:solidFill>
                  <a:srgbClr val="C9D3DD"/>
                </a:solidFill>
                <a:latin typeface="Calibri"/>
              </a:rPr>
              <a:t>4 synthesis methods · SDV CAG constraints · LLM product recommender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8A97A3"/>
                </a:solidFill>
                <a:latin typeface="Calibri"/>
              </a:rPr>
              <a:t>SDV · SDMetrics · DeepSeek  |  customers +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THE PROBLEM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Why synthetic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Real customer + transaction data is sensitive, regulated, and scarce.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Teams still need realistic data to build &amp; test models, demos, and pipelines.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•  Naïve synthesis preserves single-column shapes but breaks what matters: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cross-table correlations — does income still predict the products bought?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business rules — a product's category, a valid credit score, whole-number counts.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Goal: data that is statistically faithful AND provably valid — then prove it's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ARCHITECTURE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2286000" cy="1554480"/>
          </a:xfrm>
          <a:prstGeom prst="roundRect">
            <a:avLst/>
          </a:prstGeom>
          <a:solidFill>
            <a:srgbClr val="1F2A37"/>
          </a:solidFill>
          <a:ln>
            <a:solidFill>
              <a:srgbClr val="1F2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Seed data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1,000 customers
business rules</a:t>
            </a:r>
          </a:p>
        </p:txBody>
      </p:sp>
      <p:sp>
        <p:nvSpPr>
          <p:cNvPr id="5" name="Can 4"/>
          <p:cNvSpPr/>
          <p:nvPr/>
        </p:nvSpPr>
        <p:spPr>
          <a:xfrm>
            <a:off x="315468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03320" y="2651760"/>
            <a:ext cx="2651760" cy="1554480"/>
          </a:xfrm>
          <a:prstGeom prst="roundRect">
            <a:avLst/>
          </a:prstGeom>
          <a:solidFill>
            <a:srgbClr val="4E79A7"/>
          </a:solidFill>
          <a:ln>
            <a:solidFill>
              <a:srgbClr val="4E7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 synthesizers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HMA · CTGAN
PAR · TVAE</a:t>
            </a:r>
          </a:p>
        </p:txBody>
      </p:sp>
      <p:sp>
        <p:nvSpPr>
          <p:cNvPr id="7" name="Can 6"/>
          <p:cNvSpPr/>
          <p:nvPr/>
        </p:nvSpPr>
        <p:spPr>
          <a:xfrm>
            <a:off x="644652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95160" y="2651760"/>
            <a:ext cx="2286000" cy="1554480"/>
          </a:xfrm>
          <a:prstGeom prst="roundRect">
            <a:avLst/>
          </a:prstGeom>
          <a:solidFill>
            <a:srgbClr val="59A14F"/>
          </a:solidFill>
          <a:ln>
            <a:solidFill>
              <a:srgbClr val="59A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Evaluation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SDMetrics +
custom metrics</a:t>
            </a:r>
          </a:p>
        </p:txBody>
      </p:sp>
      <p:sp>
        <p:nvSpPr>
          <p:cNvPr id="9" name="Can 8"/>
          <p:cNvSpPr/>
          <p:nvPr/>
        </p:nvSpPr>
        <p:spPr>
          <a:xfrm>
            <a:off x="937260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21240" y="2651760"/>
            <a:ext cx="1783080" cy="1554480"/>
          </a:xfrm>
          <a:prstGeom prst="roundRect">
            <a:avLst/>
          </a:prstGeom>
          <a:solidFill>
            <a:srgbClr val="E15759"/>
          </a:solidFill>
          <a:ln>
            <a:solidFill>
              <a:srgbClr val="E15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DeepSeek
recommender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37"/>
                </a:solidFill>
                <a:latin typeface="Calibri"/>
              </a:rPr>
              <a:t>Constraints (SDV CAG) are attached to every synthesizer before fitting —</a:t>
            </a:r>
          </a:p>
          <a:p>
            <a:pPr algn="l"/>
            <a:r>
              <a:rPr sz="1700" b="0" i="0">
                <a:solidFill>
                  <a:srgbClr val="5B6670"/>
                </a:solidFill>
                <a:latin typeface="Calibri"/>
              </a:rPr>
              <a:t>so validity is guaranteed at generation time, not patched afterward.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SEED DATA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The ground truth: rule-driven seed data</a:t>
            </a:r>
          </a:p>
        </p:txBody>
      </p:sp>
      <p:pic>
        <p:nvPicPr>
          <p:cNvPr id="4" name="Picture 3" descr="see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8918"/>
            <a:ext cx="10972800" cy="3260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Income↔occupation, credit eligibility, age→channel — the real structure all four methods must reproduce.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METHODS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Four synthesis strategies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92024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017520"/>
                <a:gridCol w="3200400"/>
                <a:gridCol w="356616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Synthesizer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4E79A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HMA + Gaussian Copula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Relational, hierarchical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Joint structure, native FK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28E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GAN per table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Sharp marginals, timing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59A14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CTGAN + 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Sequential transactions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Temporal / cross-table context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E15759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VAE per table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Smooth, stable, correlated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937760"/>
            <a:ext cx="106070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Same seed data, same metadata — only the synthesizer changes, so the comparison is clean.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SDV CAG CONSTRAINTS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Constraints make output valid, not just realistic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1089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Field(s)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product_id ↔ product_category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FixedCombinations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category must match the product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ScalarInequality ≥ 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no negative amounts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num_dependents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FixedIncrements(1)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whole-number counts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credit_score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ScalarRange [300, 850]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valid FICO range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tenure_years ≤ 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Inequality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can't bank longer than you've lived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Attached via synth.add_constraints([...]) before fit — guaranteed in every sampled row.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Scalar* use SDV's legacy dict form (not in sdv.cag); the rest are native CAG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VALIDITY CHECK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Adherence: every rule holds (one caveat)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920240"/>
          <a:ext cx="106070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463040"/>
                <a:gridCol w="2011680"/>
                <a:gridCol w="1371600"/>
                <a:gridCol w="1371600"/>
              </a:tblGrid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prod/cat drift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deps whole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credit∈[300,850]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tenure≤age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amount≥0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C62828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663440"/>
            <a:ext cx="10607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M1 / M2 / M4 satisfy every constraint with 0 orphan foreign keys.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M3 keeps 15 product/category drifts — PAR merges the two columns and rejects FixedCombinations.</a:t>
            </a:r>
          </a:p>
          <a:p>
            <a:pPr algn="l" lvl="1">
              <a:spcAft>
                <a:spcPts val="800"/>
              </a:spcAft>
            </a:pPr>
            <a:r>
              <a:rPr sz="1300" b="0" i="0">
                <a:solidFill>
                  <a:srgbClr val="5B6670"/>
                </a:solidFill>
                <a:latin typeface="Calibri"/>
              </a:rPr>
              <a:t>–  We document the limitation rather than hide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EVALUATION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we measure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SDMetrics — standard fidelity: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Column shapes (marginals) · Column pair trends (within-table correlation)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Diagnostic — referential integrity, boundaries, coverage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Custom metrics — what the use case actually needs: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Cross-table MAD ↓ — mean |Δ| of feature→product-category Spearman corr (real vs synth)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Temporal realism — inter-arrival KS test + amount autocorrelation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Key idea: we score correlations and business signal, not just histograms.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RESULTS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All methods, all metrics</a:t>
            </a:r>
          </a:p>
        </p:txBody>
      </p:sp>
      <p:pic>
        <p:nvPicPr>
          <p:cNvPr id="4" name="Picture 3" descr="comparis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71590"/>
            <a:ext cx="10972800" cy="3863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Normalised so higher = better on every axis. No single method dominates — the trade-offs are the story.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CROSS-TABLE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Does income still predict products?</a:t>
            </a:r>
          </a:p>
        </p:txBody>
      </p:sp>
      <p:pic>
        <p:nvPicPr>
          <p:cNvPr id="4" name="Picture 3" descr="cross_tab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99051"/>
            <a:ext cx="11155680" cy="18085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Feature→category Spearman correlations. The closer each method's grid matches 'Real', the lower its cross-table MAD.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DISTRIBUTIONS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Marginal fidelity</a:t>
            </a:r>
          </a:p>
        </p:txBody>
      </p:sp>
      <p:pic>
        <p:nvPicPr>
          <p:cNvPr id="4" name="Picture 3" descr="distributions_all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80578"/>
            <a:ext cx="10972800" cy="27369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Real vs each method on age, income, credit score, tenure.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VERDICT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Results at 1,000 seeds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05840"/>
                <a:gridCol w="1005840"/>
                <a:gridCol w="1005840"/>
                <a:gridCol w="1005840"/>
                <a:gridCol w="1828800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Winner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Overall 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0.849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0.830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0.541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 / FK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0.779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M1/M2/M4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 trends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0.764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0.543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0.571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0.689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Txn. column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0.813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0.869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0.742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 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0.265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0.253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0.163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0.271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 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0.003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0.103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509760" y="182880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79A7"/>
                </a:solidFill>
                <a:latin typeface="Calibri"/>
              </a:rPr>
              <a:t>Pick by need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— profiles &amp; correlations (the recommender's need)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M4 — strong runner-up, simple per-table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M2 — transaction shapes &amp; timing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M3 — cross-table only, costly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15759"/>
                </a:solidFill>
                <a:latin typeface="Calibri"/>
              </a:rPr>
              <a:t>APPLICATION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Closing the loop: LLM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F2A37"/>
                </a:solidFill>
                <a:latin typeface="Calibri"/>
              </a:rPr>
              <a:t>Feed a synthetic M1 customer profile to DeepSeek (deepseek-chat) → 3 ranked products.</a:t>
            </a:r>
          </a:p>
          <a:p>
            <a:pPr algn="l"/>
            <a:r>
              <a:rPr sz="1400" b="0" i="1">
                <a:solidFill>
                  <a:srgbClr val="5B6670"/>
                </a:solidFill>
                <a:latin typeface="Calibri"/>
              </a:rPr>
              <a:t>Synthetic customer C01502 — 67, Business Owner, income ~$131k, credit 636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743200"/>
          <a:ext cx="106070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91840"/>
                <a:gridCol w="6675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 Deposit 1Y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low-risk, retirement-aligned, no term deposit held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Health Insurance Premium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business owner, costs rise with age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Credit Card Premium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high income + established credit → perks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937760"/>
            <a:ext cx="106070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Catalog cached in the system prompt — repeat calls hit 512 cached tokens.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Proves the synthetic data is fit for a real downstream task.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WRAP-UP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F2A37"/>
                </a:solidFill>
                <a:latin typeface="Calibri"/>
              </a:rPr>
              <a:t>•  Method choice is task-dependent — there is no universal winner.</a:t>
            </a:r>
          </a:p>
          <a:p>
            <a:pPr algn="l" lvl="1">
              <a:spcAft>
                <a:spcPts val="1400"/>
              </a:spcAft>
            </a:pPr>
            <a:r>
              <a:rPr sz="1700" b="0" i="0">
                <a:solidFill>
                  <a:srgbClr val="5B6670"/>
                </a:solidFill>
                <a:latin typeface="Calibri"/>
              </a:rPr>
              <a:t>–  For demographic/recommendation use cases, M1 (HMA+GC) wins; M4 (TVAE) is the simple fallback.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F2A37"/>
                </a:solidFill>
                <a:latin typeface="Calibri"/>
              </a:rPr>
              <a:t>•  Constraints turn 'realistic-looking' data into provably valid data.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F2A37"/>
                </a:solidFill>
                <a:latin typeface="Calibri"/>
              </a:rPr>
              <a:t>•  Measure correlations and business signal, not just per-column histograms.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1F2A37"/>
                </a:solidFill>
                <a:latin typeface="Calibri"/>
              </a:rPr>
              <a:t>•  End-to-end &amp; reproducible: seed → synthesize → evaluate → recommend, all in one notebook.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Code: src/{methods,constraints,evaluate,llm_suggest}.py  ·  synthetic_data_pipeline.ipynb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