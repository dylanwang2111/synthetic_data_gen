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9FC0E0"/>
                </a:solidFill>
                <a:latin typeface="Calibri"/>
              </a:rPr>
              <a:t>SYNTHETIC BANKING DATA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 constrained, benchmarked generation pipeline</a:t>
            </a:r>
          </a:p>
          <a:p>
            <a:pPr algn="l"/>
            <a:r>
              <a:rPr sz="2000" b="0" i="0">
                <a:solidFill>
                  <a:srgbClr val="C9D3DD"/>
                </a:solidFill>
                <a:latin typeface="Calibri"/>
              </a:rPr>
              <a:t>5 methods (SDV + differential privacy) · constraints · LLM recommender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7A3"/>
                </a:solidFill>
                <a:latin typeface="Calibri"/>
              </a:rPr>
              <a:t>SDV · OpenDP SmartNoise · SDMetrics · DeepSeek  |  customers +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THE PROBLEM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Why synthetic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Real customer + transaction data is sensitive, regulated, and scarce.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Teams still need realistic data to build &amp; test models, demos, and pipelines.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•  Naïve synthesis preserves single-column shapes but breaks what matters:</a:t>
            </a:r>
          </a:p>
          <a:p>
            <a:pPr algn="l" lvl="1">
              <a:spcAft>
                <a:spcPts val="1200"/>
              </a:spcAft>
            </a:pPr>
            <a:r>
              <a:rPr sz="1600" b="0" i="0">
                <a:solidFill>
                  <a:srgbClr val="5B6670"/>
                </a:solidFill>
                <a:latin typeface="Calibri"/>
              </a:rPr>
              <a:t>–  cross-table correlations — does income still predict the products bought?</a:t>
            </a:r>
          </a:p>
          <a:p>
            <a:pPr algn="l" lvl="1">
              <a:spcAft>
                <a:spcPts val="1200"/>
              </a:spcAft>
            </a:pPr>
            <a:r>
              <a:rPr sz="1600" b="0" i="0">
                <a:solidFill>
                  <a:srgbClr val="5B6670"/>
                </a:solidFill>
                <a:latin typeface="Calibri"/>
              </a:rPr>
              <a:t>–  business rules — a product's category, a valid credit score, whole-number counts.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Goal: data that is statistically faithful AND provably valid — then prove it's useful.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ARCHITECTURE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End-to-end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651760"/>
            <a:ext cx="2286000" cy="1554480"/>
          </a:xfrm>
          <a:prstGeom prst="roundRect">
            <a:avLst/>
          </a:prstGeom>
          <a:solidFill>
            <a:srgbClr val="1F2A37"/>
          </a:solidFill>
          <a:ln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Seed data</a:t>
            </a:r>
          </a:p>
          <a:p>
            <a:pPr algn="ctr"/>
            <a:r>
              <a:rPr sz="1100" b="0" i="0">
                <a:solidFill>
                  <a:srgbClr val="EEF2F6"/>
                </a:solidFill>
                <a:latin typeface="Calibri"/>
              </a:rPr>
              <a:t>1,000 customers
business rules</a:t>
            </a:r>
          </a:p>
        </p:txBody>
      </p:sp>
      <p:sp>
        <p:nvSpPr>
          <p:cNvPr id="5" name="Can 4"/>
          <p:cNvSpPr/>
          <p:nvPr/>
        </p:nvSpPr>
        <p:spPr>
          <a:xfrm>
            <a:off x="3154680" y="3200400"/>
            <a:ext cx="457200" cy="457200"/>
          </a:xfrm>
          <a:prstGeom prst="can">
            <a:avLst/>
          </a:prstGeom>
          <a:solidFill>
            <a:srgbClr val="5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03320" y="2651760"/>
            <a:ext cx="2651760" cy="1554480"/>
          </a:xfrm>
          <a:prstGeom prst="roundRect">
            <a:avLst/>
          </a:prstGeom>
          <a:solidFill>
            <a:srgbClr val="4E79A7"/>
          </a:solidFill>
          <a:ln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 synthesizers</a:t>
            </a:r>
          </a:p>
          <a:p>
            <a:pPr algn="ctr"/>
            <a:r>
              <a:rPr sz="1100" b="0" i="0">
                <a:solidFill>
                  <a:srgbClr val="EEF2F6"/>
                </a:solidFill>
                <a:latin typeface="Calibri"/>
              </a:rPr>
              <a:t>SDV: HMA·CTGAN
PAR·TVAE  +  DP</a:t>
            </a:r>
          </a:p>
        </p:txBody>
      </p:sp>
      <p:sp>
        <p:nvSpPr>
          <p:cNvPr id="7" name="Can 6"/>
          <p:cNvSpPr/>
          <p:nvPr/>
        </p:nvSpPr>
        <p:spPr>
          <a:xfrm>
            <a:off x="6446520" y="3200400"/>
            <a:ext cx="457200" cy="457200"/>
          </a:xfrm>
          <a:prstGeom prst="can">
            <a:avLst/>
          </a:prstGeom>
          <a:solidFill>
            <a:srgbClr val="5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95160" y="2651760"/>
            <a:ext cx="2286000" cy="1554480"/>
          </a:xfrm>
          <a:prstGeom prst="roundRect">
            <a:avLst/>
          </a:prstGeom>
          <a:solidFill>
            <a:srgbClr val="59A14F"/>
          </a:solidFill>
          <a:ln>
            <a:solidFill>
              <a:srgbClr val="59A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Evaluation</a:t>
            </a:r>
          </a:p>
          <a:p>
            <a:pPr algn="ctr"/>
            <a:r>
              <a:rPr sz="1100" b="0" i="0">
                <a:solidFill>
                  <a:srgbClr val="EEF2F6"/>
                </a:solidFill>
                <a:latin typeface="Calibri"/>
              </a:rPr>
              <a:t>SDMetrics +
custom metrics</a:t>
            </a:r>
          </a:p>
        </p:txBody>
      </p:sp>
      <p:sp>
        <p:nvSpPr>
          <p:cNvPr id="9" name="Can 8"/>
          <p:cNvSpPr/>
          <p:nvPr/>
        </p:nvSpPr>
        <p:spPr>
          <a:xfrm>
            <a:off x="9372600" y="3200400"/>
            <a:ext cx="457200" cy="457200"/>
          </a:xfrm>
          <a:prstGeom prst="can">
            <a:avLst/>
          </a:prstGeom>
          <a:solidFill>
            <a:srgbClr val="5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21240" y="2651760"/>
            <a:ext cx="1783080" cy="1554480"/>
          </a:xfrm>
          <a:prstGeom prst="roundRect">
            <a:avLst/>
          </a:prstGeom>
          <a:solidFill>
            <a:srgbClr val="E15759"/>
          </a:solidFill>
          <a:ln>
            <a:solidFill>
              <a:srgbClr val="E15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/>
            <a:r>
              <a:rPr sz="1100" b="0" i="0">
                <a:solidFill>
                  <a:srgbClr val="EEF2F6"/>
                </a:solidFill>
                <a:latin typeface="Calibri"/>
              </a:rPr>
              <a:t>DeepSeek
recommender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Constraints (SDV CAG) are attached to every synthesizer before fitting —</a:t>
            </a:r>
          </a:p>
          <a:p>
            <a:pPr algn="l"/>
            <a:r>
              <a:rPr sz="1700" b="0" i="0">
                <a:solidFill>
                  <a:srgbClr val="5B6670"/>
                </a:solidFill>
                <a:latin typeface="Calibri"/>
              </a:rPr>
              <a:t>so validity is guaranteed at generation time, not patched afterward.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SEED DATA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The ground truth: rule-driven seed data</a:t>
            </a:r>
          </a:p>
        </p:txBody>
      </p:sp>
      <p:pic>
        <p:nvPicPr>
          <p:cNvPr id="4" name="Picture 3" descr="see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18918"/>
            <a:ext cx="10972800" cy="3260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5B6670"/>
                </a:solidFill>
                <a:latin typeface="Calibri"/>
              </a:rPr>
              <a:t>Income↔occupation, credit eligibility, age→channel — the real structure all four methods must reproduce.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METHODS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Five synthesis strategies — SDV vs OpenDP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83080"/>
          <a:ext cx="10607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566160"/>
                <a:gridCol w="182880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Synthesizer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4E79A7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HMA + Gaussian Copula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SDV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Joint structure, native FK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28E2B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Independent CTGAN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SDV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Sharp marginals, timing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59A14F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CTGAN + PAR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SDV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Temporal / cross-table context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E15759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Independent TVAE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SDV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Smooth, stable, correlated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B07AA1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SmartNoise MST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OpenDP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(ε, δ)-differential privacy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0292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M1–M4 (SDV) optimise statistical fidelity; M5 (SmartNoise/OpenDP) adds a formal privacy guarantee.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Same seed data and metadata — only the synthesizer changes, so the comparison is clean.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SDV CAG CONSTRAINTS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Constraints make output valid, not just realistic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82880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10896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Field(s)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Calibri"/>
                        </a:rPr>
                        <a:t>product_id ↔ product_category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FixedCombinations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category must match the product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ScalarInequality ≥ 0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no negative amounts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Calibri"/>
                        </a:rPr>
                        <a:t>num_dependents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FixedIncrements(1)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whole-number counts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Calibri"/>
                        </a:rPr>
                        <a:t>credit_score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ScalarRange [300, 850]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valid FICO range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Calibri"/>
                        </a:rPr>
                        <a:t>tenure_years ≤ age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Inequality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can't bank longer than you've lived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4632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Attached via synth.add_constraints([...]) before fit — guaranteed in every sampled row.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Scalar* use SDV's legacy dict form (not in sdv.cag); the rest are native CAG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VALIDITY CHECK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Adherence: every rule holds (one caveat)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82880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1463040"/>
                <a:gridCol w="201168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prod/cat drift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deps whole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credit∈[300,850]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tenure≤age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amount≥0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A37"/>
                          </a:solidFill>
                          <a:latin typeface="Calibri"/>
                        </a:rPr>
                        <a:t>M1 HMA GC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A37"/>
                          </a:solidFill>
                          <a:latin typeface="Calibri"/>
                        </a:rPr>
                        <a:t>M2 CTGAN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A37"/>
                          </a:solidFill>
                          <a:latin typeface="Calibri"/>
                        </a:rPr>
                        <a:t>M3 CTGAN+PAR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A37"/>
                          </a:solidFill>
                          <a:latin typeface="Calibri"/>
                        </a:rPr>
                        <a:t>M4 TVAE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A37"/>
                          </a:solidFill>
                          <a:latin typeface="Calibri"/>
                        </a:rPr>
                        <a:t>M5 SmartNoise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4632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M1 / M2 / M4 (SDV constraints) and M5 (DP + post-processing) satisfy every rule, 0 orphan FKs.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M3 keeps 15 product/category drifts — PAR merges the two columns and rejects FixedCombinations.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EVALUATION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How we measure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2A37"/>
                </a:solidFill>
                <a:latin typeface="Calibri"/>
              </a:rPr>
              <a:t>•  SDMetrics — standard fidelity:</a:t>
            </a:r>
          </a:p>
          <a:p>
            <a:pPr algn="l" lvl="1">
              <a:spcAft>
                <a:spcPts val="10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Column shapes (marginals) · Column pair trends (within-table correlation)</a:t>
            </a:r>
          </a:p>
          <a:p>
            <a:pPr algn="l" lvl="1">
              <a:spcAft>
                <a:spcPts val="10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Diagnostic — referential integrity, boundaries, coverage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2A37"/>
                </a:solidFill>
                <a:latin typeface="Calibri"/>
              </a:rPr>
              <a:t>•  Custom metrics — what the use case actually needs:</a:t>
            </a:r>
          </a:p>
          <a:p>
            <a:pPr algn="l" lvl="1">
              <a:spcAft>
                <a:spcPts val="10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Cross-table MAD ↓ — mean |Δ| of feature→product-category Spearman corr (real vs synth)</a:t>
            </a:r>
          </a:p>
          <a:p>
            <a:pPr algn="l" lvl="1">
              <a:spcAft>
                <a:spcPts val="10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Temporal realism — inter-arrival KS test + amount autocorrelation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Key idea: we score correlations and business signal, not just histograms.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RESULTS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All methods, all metrics</a:t>
            </a:r>
          </a:p>
        </p:txBody>
      </p:sp>
      <p:pic>
        <p:nvPicPr>
          <p:cNvPr id="4" name="Picture 3" descr="comparis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21" y="1554480"/>
            <a:ext cx="9228396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5B6670"/>
                </a:solidFill>
                <a:latin typeface="Calibri"/>
              </a:rPr>
              <a:t>Normalised so higher = better on every axis. No single method dominates — the trade-offs are the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CROSS-TABLE CORRELATION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Does income still predict products?</a:t>
            </a:r>
          </a:p>
        </p:txBody>
      </p:sp>
      <p:pic>
        <p:nvPicPr>
          <p:cNvPr id="4" name="Picture 3" descr="cross_tabl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50784"/>
            <a:ext cx="11155680" cy="1505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5B6670"/>
                </a:solidFill>
                <a:latin typeface="Calibri"/>
              </a:rPr>
              <a:t>Feature→category Spearman correlations. Weak for every method — the cross-table signal is the hardest to keep.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IN-TABLE CORRELATION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Within-customer correlation: M1 dominates</a:t>
            </a:r>
          </a:p>
        </p:txBody>
      </p:sp>
      <p:pic>
        <p:nvPicPr>
          <p:cNvPr id="4" name="Picture 3" descr="in_tabl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52" y="1508760"/>
            <a:ext cx="6740615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73736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Calibri"/>
              </a:rPr>
              <a:t>MAE vs Real ↓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4E79A7"/>
                </a:solidFill>
                <a:latin typeface="Calibri"/>
              </a:rPr>
              <a:t>M1  0.040   (Gaussian Copula)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E15759"/>
                </a:solidFill>
                <a:latin typeface="Calibri"/>
              </a:rPr>
              <a:t>M4  0.110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59A14F"/>
                </a:solidFill>
                <a:latin typeface="Calibri"/>
              </a:rPr>
              <a:t>M3  0.124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28E2B"/>
                </a:solidFill>
                <a:latin typeface="Calibri"/>
              </a:rPr>
              <a:t>M2  0.138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B07AA1"/>
                </a:solidFill>
                <a:latin typeface="Calibri"/>
              </a:rPr>
              <a:t>M5  0.212   (DP cost)</a:t>
            </a:r>
          </a:p>
          <a:p>
            <a:pPr algn="l"/>
            <a:r>
              <a:rPr sz="1200" b="0" i="1">
                <a:solidFill>
                  <a:srgbClr val="5B6670"/>
                </a:solidFill>
                <a:latin typeface="Calibri"/>
              </a:rPr>
              <a:t>M1 reproduces income↔credit↔age 3–5× better; M5 (best marginals) is worst on correlation.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5B6670"/>
                </a:solidFill>
                <a:latin typeface="Calibri"/>
              </a:rPr>
              <a:t>Pearson correlation of customer numeric columns — Real vs each method (MAE over off-diagonal pairs).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DISTRIBUTIONS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Marginal fidelity</a:t>
            </a:r>
          </a:p>
        </p:txBody>
      </p:sp>
      <p:pic>
        <p:nvPicPr>
          <p:cNvPr id="4" name="Picture 3" descr="dist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600200"/>
            <a:ext cx="3600450" cy="2057400"/>
          </a:xfrm>
          <a:prstGeom prst="rect">
            <a:avLst/>
          </a:prstGeom>
        </p:spPr>
      </p:pic>
      <p:pic>
        <p:nvPicPr>
          <p:cNvPr id="5" name="Picture 4" descr="dist_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444" y="1600200"/>
            <a:ext cx="3600450" cy="2057400"/>
          </a:xfrm>
          <a:prstGeom prst="rect">
            <a:avLst/>
          </a:prstGeom>
        </p:spPr>
      </p:pic>
      <p:pic>
        <p:nvPicPr>
          <p:cNvPr id="6" name="Picture 5" descr="dist_cr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3886200"/>
            <a:ext cx="3600450" cy="2057400"/>
          </a:xfrm>
          <a:prstGeom prst="rect">
            <a:avLst/>
          </a:prstGeom>
        </p:spPr>
      </p:pic>
      <p:pic>
        <p:nvPicPr>
          <p:cNvPr id="7" name="Picture 6" descr="dist_ten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444" y="3886200"/>
            <a:ext cx="360045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5B6670"/>
                </a:solidFill>
                <a:latin typeface="Calibri"/>
              </a:rPr>
              <a:t>Real (grey fill) vs each method (coloured outline) — per variable for easier comparison.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VERDICT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Results at 1,000 seeds — SDV vs 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"/>
                <a:gridCol w="868680"/>
                <a:gridCol w="868680"/>
                <a:gridCol w="868680"/>
                <a:gridCol w="868680"/>
                <a:gridCol w="178308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 marT="25400" marB="25400" marL="76200" marR="76200" anchor="ctr">
                    <a:solidFill>
                      <a:srgbClr val="4E79A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Overall quality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0.851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0.840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0.544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Diagnostic / FK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0.765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tie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Cust. pair trends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0.544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0.540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0.680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Txn. column shapes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0.818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0.851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0.739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0.788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0.880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Cross-table MAD 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0.281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0.195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0.288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0.297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Autocorr MAE ↓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0.076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0.063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0.124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0.005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Differential privacy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281160" y="178308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9A7"/>
                </a:solidFill>
                <a:latin typeface="Calibri"/>
              </a:rPr>
              <a:t>Pick by need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M5 — privacy + best overall fidelity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M1 — demographic correlations (recommender)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M4 — simple per-table SDV pipeline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M2 — transaction timing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M3 — cross-table only, costly</a:t>
            </a:r>
          </a:p>
          <a:p>
            <a:pPr algn="l"/>
            <a:r>
              <a:rPr sz="1200" b="0" i="1">
                <a:solidFill>
                  <a:srgbClr val="B07AA1"/>
                </a:solidFill>
                <a:latin typeface="Calibri"/>
              </a:rPr>
              <a:t>DP costs ~0 on marginals — but most on cross-table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E15759"/>
                </a:solidFill>
                <a:latin typeface="Calibri"/>
              </a:rPr>
              <a:t>APPLICATION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Closing the loop: LLM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2A37"/>
                </a:solidFill>
                <a:latin typeface="Calibri"/>
              </a:rPr>
              <a:t>Feed a synthetic M1 customer profile to DeepSeek (deepseek-chat) → 3 ranked products.</a:t>
            </a:r>
          </a:p>
          <a:p>
            <a:pPr algn="l"/>
            <a:r>
              <a:rPr sz="1400" b="0" i="1">
                <a:solidFill>
                  <a:srgbClr val="5B6670"/>
                </a:solidFill>
                <a:latin typeface="Calibri"/>
              </a:rPr>
              <a:t>Synthetic customer C01502 — 42, Business Owner, income ~$91k, credit 675, PhD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743200"/>
          <a:ext cx="10607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91840"/>
                <a:gridCol w="66751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25400" marB="25400" marL="76200" marR="76200" anchor="ctr">
                    <a:solidFill>
                      <a:srgbClr val="E157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25400" marB="25400" marL="76200" marR="76200" anchor="ctr">
                    <a:solidFill>
                      <a:srgbClr val="E157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T="25400" marB="25400" marL="76200" marR="76200" anchor="ctr">
                    <a:solidFill>
                      <a:srgbClr val="E157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Investment Fund A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high income + PhD → wealth growth, low-med risk, not held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Fixed Deposit 1Y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already holds savings; low-risk, stable returns</a:t>
                      </a:r>
                    </a:p>
                  </a:txBody>
                  <a:tcPr marT="25400" marB="25400" marL="76200" marR="762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Personal Loan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good credit, no credit products → consolidate / build history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937760"/>
            <a:ext cx="106070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Catalog cached in the system prompt — repeat calls hit 512 cached tokens.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Proves the synthetic data is fit for a real downstream task.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4E79A7"/>
                </a:solidFill>
                <a:latin typeface="Calibri"/>
              </a:rPr>
              <a:t>WRAP-UP</a:t>
            </a:r>
          </a:p>
          <a:p>
            <a:pPr algn="l"/>
            <a:r>
              <a:rPr sz="3200" b="1" i="0">
                <a:solidFill>
                  <a:srgbClr val="1F2A37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Method choice is task-dependent — there is no universal winner.</a:t>
            </a:r>
          </a:p>
          <a:p>
            <a:pPr algn="l" lvl="1">
              <a:spcAft>
                <a:spcPts val="1200"/>
              </a:spcAft>
            </a:pPr>
            <a:r>
              <a:rPr sz="1600" b="0" i="0">
                <a:solidFill>
                  <a:srgbClr val="5B6670"/>
                </a:solidFill>
                <a:latin typeface="Calibri"/>
              </a:rPr>
              <a:t>–  Privacy? M5 (SmartNoise DP). Demographic correlations? M1 (HMA+GC). Per-table SDV? M4 (TVAE).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Differential privacy was nearly free on marginal fidelity here — but costs most on cross-table signal.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Constraints turn 'realistic-looking' data into provably valid data.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Measure correlations and business signal, not just per-column histograms.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End-to-end &amp; reproducible: seed → synthesize → evaluate → recommend, all in one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5B6670"/>
                </a:solidFill>
                <a:latin typeface="Calibri"/>
              </a:rPr>
              <a:t>Code: src/{methods,constraints,evaluate,llm_suggest}.py  ·  synthetic_data_pipeline.ipynb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