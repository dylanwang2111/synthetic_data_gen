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9FC0E0"/>
                </a:solidFill>
                <a:latin typeface="Calibri"/>
              </a:rPr>
              <a:t>SYNTHETIC BANKING DATA</a:t>
            </a:r>
          </a:p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SDV vs Differential Privacy</a:t>
            </a:r>
          </a:p>
          <a:p>
            <a:pPr algn="l"/>
            <a:r>
              <a:rPr sz="2000" b="0" i="0">
                <a:solidFill>
                  <a:srgbClr val="C9D3DD"/>
                </a:solidFill>
                <a:latin typeface="Calibri"/>
              </a:rPr>
              <a:t>Which synthesizer for customer + transaction data — and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8A97A3"/>
                </a:solidFill>
                <a:latin typeface="Calibri"/>
              </a:rPr>
              <a:t>Pipeline · 5 methods · fidelity / diagnostic / privacy · bootstrapped comparison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HOW IT WORKS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The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331720"/>
            <a:ext cx="2377440" cy="1554480"/>
          </a:xfrm>
          <a:prstGeom prst="roundRect">
            <a:avLst/>
          </a:prstGeom>
          <a:solidFill>
            <a:srgbClr val="1F2A37"/>
          </a:solidFill>
          <a:ln>
            <a:solidFill>
              <a:srgbClr val="1F2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 · Seed data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2,000 customers
~24k transactions
rule-driven</a:t>
            </a:r>
          </a:p>
        </p:txBody>
      </p:sp>
      <p:sp>
        <p:nvSpPr>
          <p:cNvPr id="5" name="Can 4"/>
          <p:cNvSpPr/>
          <p:nvPr/>
        </p:nvSpPr>
        <p:spPr>
          <a:xfrm>
            <a:off x="3246120" y="288036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94760" y="2331720"/>
            <a:ext cx="2743200" cy="1554480"/>
          </a:xfrm>
          <a:prstGeom prst="roundRect">
            <a:avLst/>
          </a:prstGeom>
          <a:solidFill>
            <a:srgbClr val="4E79A7"/>
          </a:solidFill>
          <a:ln>
            <a:solidFill>
              <a:srgbClr val="4E7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 · Synthesize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5 models
SDV (4) + DP (1)
+ constraints</a:t>
            </a:r>
          </a:p>
        </p:txBody>
      </p:sp>
      <p:sp>
        <p:nvSpPr>
          <p:cNvPr id="7" name="Can 6"/>
          <p:cNvSpPr/>
          <p:nvPr/>
        </p:nvSpPr>
        <p:spPr>
          <a:xfrm>
            <a:off x="6629400" y="288036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78040" y="2331720"/>
            <a:ext cx="2468880" cy="1554480"/>
          </a:xfrm>
          <a:prstGeom prst="roundRect">
            <a:avLst/>
          </a:prstGeom>
          <a:solidFill>
            <a:srgbClr val="59A14F"/>
          </a:solidFill>
          <a:ln>
            <a:solidFill>
              <a:srgbClr val="59A1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 · Evaluate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fidelity · diagnostic
privacy
(bootstrapped)</a:t>
            </a:r>
          </a:p>
        </p:txBody>
      </p:sp>
      <p:sp>
        <p:nvSpPr>
          <p:cNvPr id="9" name="Can 8"/>
          <p:cNvSpPr/>
          <p:nvPr/>
        </p:nvSpPr>
        <p:spPr>
          <a:xfrm>
            <a:off x="9738360" y="288036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287000" y="2331720"/>
            <a:ext cx="1600200" cy="1554480"/>
          </a:xfrm>
          <a:prstGeom prst="roundRect">
            <a:avLst/>
          </a:prstGeom>
          <a:solidFill>
            <a:srgbClr val="E15759"/>
          </a:solidFill>
          <a:ln>
            <a:solidFill>
              <a:srgbClr val="E15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 · Use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LLM product
recommender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51960"/>
            <a:ext cx="106070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One rule-driven ground truth (income↔occupation, credit eligibility, age→channel) feeds every method.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Constraints (SDV CAG) attach before fitting → valid output at generation, not patched afterward.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Same seed + metadata for all 5 → only the synthesizer changes, so the comparison is clean.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WHAT WE COMPARE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Five synthesis methods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383280"/>
                <a:gridCol w="1920240"/>
                <a:gridCol w="457200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Synthesizer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Paradigm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4E79A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HMA + Gaussian Copula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Models customer→txn FK jointly (multi-table)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28E2B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CTGAN (per table)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GAN — sharp marginals &amp; transaction timing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59A14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CTGAN + 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Adds a sequence model for transactions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E15759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TVAE (per table)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Variational autoencoder — smooth, correlated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B07AA1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SmartNoise MST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B07AA1"/>
                          </a:solidFill>
                          <a:latin typeface="Calibri"/>
                        </a:rPr>
                        <a:t>OpenDP (DP)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Noisy marginals → (ε≈6, δ) differential privacy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983480"/>
            <a:ext cx="106070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M1–M4 (SDV) optimise statistical fidelity; M5 (SmartNoise) trades fidelity for a formal privacy guarantee.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M1 is the only one that models the customer→transaction relationship directly (native referential integrity).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METRIC 1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Fidelity metrics — does it look like the real data?</a:t>
            </a:r>
          </a:p>
        </p:txBody>
      </p:sp>
      <p:pic>
        <p:nvPicPr>
          <p:cNvPr id="4" name="Picture 3" descr="quality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62712"/>
            <a:ext cx="7772400" cy="3589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58200" y="1691640"/>
            <a:ext cx="3429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E79A7"/>
                </a:solidFill>
                <a:latin typeface="Calibri"/>
              </a:rPr>
              <a:t>Two components</a:t>
            </a:r>
          </a:p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Column Shapes — each column's distribution (marginals). Scored by KSComplement (numeric) / TVComplement (categorical): 1.0 = identical.</a:t>
            </a:r>
          </a:p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Column Pair Trends — relationships between columns (correlation / contingency similarity).</a:t>
            </a:r>
          </a:p>
          <a:p>
            <a:pPr algn="l">
              <a:spcAft>
                <a:spcPts val="9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Overall Quality = average of the two — the headline fidelity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SDMetrics QualityReport — overall fidelity decomposed into Column Shapes and Column Pair Trends, per method.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METRIC 2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Diagnostic metric — is it structurally valid?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Diagnostic ≠ fidelity. It does not ask 'is it realistic?' — it asks 'is it well-formed?'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Data validity — values stay within valid ranges and known categories (credit∈[300,850], real product ids).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Data structure — primary keys unique, no missing required fields.</a:t>
            </a:r>
          </a:p>
          <a:p>
            <a:pPr algn="l">
              <a:spcAft>
                <a:spcPts val="11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Referential integrity — every transaction references a real customer AND a real product (no orphan foreign keys).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4892040"/>
          <a:ext cx="106070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3440"/>
                <a:gridCol w="1188720"/>
                <a:gridCol w="1188720"/>
                <a:gridCol w="118872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Diagnostic / referential integrity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Score (1.0 = perfect)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C62828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2E7D32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Only M3 (PAR) breaks integrity — it merges product_id/category and rejects the FixedCombinations constraint.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THE KEY RESULT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SDV vs SmartNoise — the comparison</a:t>
            </a:r>
          </a:p>
        </p:txBody>
      </p:sp>
      <p:pic>
        <p:nvPicPr>
          <p:cNvPr id="4" name="Picture 3" descr="sdv_vs_smart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55498"/>
            <a:ext cx="8321040" cy="36785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96112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79A7"/>
                </a:solidFill>
                <a:latin typeface="Calibri"/>
              </a:rPr>
              <a:t>Mean ± SD (bootstrap)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Fidelity: means are close — SDV wins shapes, SmartNoise wins pair trends.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Variance is the story: SmartNoise's DP noise gives ~6× the quality SD (±0.037 vs ±0.006).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Diagnostic / referential integrity: both perfect (1.00).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Privacy (MIA AUC): both ≈ 0.50 — no measurable membership leakage either way.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Only real difference: M5 adds a formal (ε≈6, δ)-DP guarantee.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SDV = M1 (HMA-GC, recommended); SmartNoise = M5 (MST, DP). Error bars = ±1 SD over bootstrap resamples.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THE NUMBERS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Per-metric: mean ± variance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286000"/>
                <a:gridCol w="2468880"/>
                <a:gridCol w="22860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Metric (category)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SDV  (M1)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SmartNoise  (M5)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 i="0">
                          <a:solidFill>
                            <a:srgbClr val="1F2A37"/>
                          </a:solidFill>
                          <a:latin typeface="Calibri"/>
                        </a:rPr>
                        <a:t>Quality — fidelity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0.88 ± 0.006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0.88 ± 0.037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5B6670"/>
                          </a:solidFill>
                          <a:latin typeface="Calibri"/>
                        </a:rPr>
                        <a:t>tie mean · SDV 6× stabler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 i="0">
                          <a:solidFill>
                            <a:srgbClr val="1F2A37"/>
                          </a:solidFill>
                          <a:latin typeface="Calibri"/>
                        </a:rPr>
                        <a:t>Cust. column shapes — fidelity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0.94 ± 0.003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0.92 ± 0.003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4E79A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 i="0">
                          <a:solidFill>
                            <a:srgbClr val="1F2A37"/>
                          </a:solidFill>
                          <a:latin typeface="Calibri"/>
                        </a:rPr>
                        <a:t>Cust. pair trends — fidelity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0.73 ± 0.009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0.83 ± 0.014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B07AA1"/>
                          </a:solidFill>
                          <a:latin typeface="Calibri"/>
                        </a:rPr>
                        <a:t>SmartNoise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 i="0">
                          <a:solidFill>
                            <a:srgbClr val="1F2A37"/>
                          </a:solidFill>
                          <a:latin typeface="Calibri"/>
                        </a:rPr>
                        <a:t>Txn. column shapes — fidelity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0.86 ± 0.002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0.85 ± 0.003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4E79A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 i="0">
                          <a:solidFill>
                            <a:srgbClr val="1F2A37"/>
                          </a:solidFill>
                          <a:latin typeface="Calibri"/>
                        </a:rPr>
                        <a:t>Diagnostic — ref. integrity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1.00 ± 0.001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1.00 ± 0.000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5B6670"/>
                          </a:solidFill>
                          <a:latin typeface="Calibri"/>
                        </a:rPr>
                        <a:t>tie (perfect)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 i="0">
                          <a:solidFill>
                            <a:srgbClr val="1F2A37"/>
                          </a:solidFill>
                          <a:latin typeface="Calibri"/>
                        </a:rPr>
                        <a:t>Privacy — MIA AUC (↓)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0.50 ± 0.009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0.49 ± 0.009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5B6670"/>
                          </a:solidFill>
                          <a:latin typeface="Calibri"/>
                        </a:rPr>
                        <a:t>tie (no leakage)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 i="0">
                          <a:solidFill>
                            <a:srgbClr val="1F2A37"/>
                          </a:solidFill>
                          <a:latin typeface="Calibri"/>
                        </a:rPr>
                        <a:t>Formal DP guarantee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A37"/>
                          </a:solidFill>
                          <a:latin typeface="Calibri"/>
                        </a:rPr>
                        <a:t>✓  ε ≈ 6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5B6670"/>
                          </a:solidFill>
                          <a:latin typeface="Calibri"/>
                        </a:rPr>
                        <a:t>SmartNoise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Mean ± SD over the bootstrap (fidelity/diagnostic B=200; privacy B=300). Lower MIA AUC = more private; 0.5 = none.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CONCLUSION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Verdict: use SDV for this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50" b="0" i="0">
                <a:solidFill>
                  <a:srgbClr val="1F2A37"/>
                </a:solidFill>
                <a:latin typeface="Calibri"/>
              </a:rPr>
              <a:t>•  Equal-or-better mean fidelity — SDV (M1) wins column shapes &amp; txn shapes, ties on quality, loses only pair trends.</a:t>
            </a:r>
          </a:p>
          <a:p>
            <a:pPr algn="l">
              <a:spcAft>
                <a:spcPts val="1000"/>
              </a:spcAft>
            </a:pPr>
            <a:r>
              <a:rPr sz="1650" b="0" i="0">
                <a:solidFill>
                  <a:srgbClr val="1F2A37"/>
                </a:solidFill>
                <a:latin typeface="Calibri"/>
              </a:rPr>
              <a:t>•  Far more stable — DP noise gives SmartNoise ~6× the quality variance; SDV is reproducible run-to-run.</a:t>
            </a:r>
          </a:p>
          <a:p>
            <a:pPr algn="l">
              <a:spcAft>
                <a:spcPts val="1000"/>
              </a:spcAft>
            </a:pPr>
            <a:r>
              <a:rPr sz="1650" b="0" i="0">
                <a:solidFill>
                  <a:srgbClr val="1F2A37"/>
                </a:solidFill>
                <a:latin typeface="Calibri"/>
              </a:rPr>
              <a:t>•  Native referential integrity — HMA models the customer→transaction FK, so every row is structurally valid (1.00).</a:t>
            </a:r>
          </a:p>
          <a:p>
            <a:pPr algn="l">
              <a:spcAft>
                <a:spcPts val="1000"/>
              </a:spcAft>
            </a:pPr>
            <a:r>
              <a:rPr sz="1650" b="0" i="0">
                <a:solidFill>
                  <a:srgbClr val="1F2A37"/>
                </a:solidFill>
                <a:latin typeface="Calibri"/>
              </a:rPr>
              <a:t>•  Keeps structure DP drops — cross-table (income→product) and transaction timing survive; M5's sequence signal collapses.</a:t>
            </a:r>
          </a:p>
          <a:p>
            <a:pPr algn="l">
              <a:spcAft>
                <a:spcPts val="1000"/>
              </a:spcAft>
            </a:pPr>
            <a:r>
              <a:rPr sz="1650" b="0" i="0">
                <a:solidFill>
                  <a:srgbClr val="1F2A37"/>
                </a:solidFill>
                <a:latin typeface="Calibri"/>
              </a:rPr>
              <a:t>•  Privacy is empirically equal here — at n=2,000 no method leaks membership (MIA AUC ≈ 0.50, ε = 0).</a:t>
            </a:r>
          </a:p>
          <a:p>
            <a:pPr algn="l">
              <a:spcAft>
                <a:spcPts val="1000"/>
              </a:spcAft>
            </a:pPr>
            <a:r>
              <a:rPr sz="1650" b="0" i="0">
                <a:solidFill>
                  <a:srgbClr val="1F2A37"/>
                </a:solidFill>
                <a:latin typeface="Calibri"/>
              </a:rPr>
              <a:t>•  So the DP guarantee buys nothing measurable for this data type/scale — and costs fidelity + stability.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8064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B07AA1"/>
                </a:solidFill>
                <a:latin typeface="Calibri"/>
              </a:rPr>
              <a:t>Choose SmartNoise (DP) only when: data is small / high-dimensional, records are outlier-heavy, or a worst-case ε guarantee is a hard requirement.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