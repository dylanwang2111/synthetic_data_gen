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9FC0E0"/>
                </a:solidFill>
                <a:latin typeface="Calibri"/>
              </a:rPr>
              <a:t>SYNTHETIC BANKING DATA</a:t>
            </a:r>
          </a:p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 constrained, benchmarked generation pipeline</a:t>
            </a:r>
          </a:p>
          <a:p>
            <a:pPr algn="l"/>
            <a:r>
              <a:rPr sz="2000" b="0" i="0">
                <a:solidFill>
                  <a:srgbClr val="C9D3DD"/>
                </a:solidFill>
                <a:latin typeface="Calibri"/>
              </a:rPr>
              <a:t>5 methods (SDV + differential privacy) · constraints · LLM recommender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8A97A3"/>
                </a:solidFill>
                <a:latin typeface="Calibri"/>
              </a:rPr>
              <a:t>SDV · OpenDP SmartNoise · SDMetrics · DeepSeek  |  customers +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THE PROBLEM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Why synthetic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Real customer + transaction data is sensitive, regulated, and scarce.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Teams still need realistic data to build &amp; test models, demos, and pipelines.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•  Naïve synthesis preserves single-column shapes but breaks what matters: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cross-table correlations — does income still predict the products bought?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business rules — a product's category, a valid credit score, whole-number counts.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Goal: data that is statistically faithful AND provably valid — then prove it's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ARCHITECTURE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End-to-end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51760"/>
            <a:ext cx="2286000" cy="1554480"/>
          </a:xfrm>
          <a:prstGeom prst="roundRect">
            <a:avLst/>
          </a:prstGeom>
          <a:solidFill>
            <a:srgbClr val="1F2A37"/>
          </a:solidFill>
          <a:ln>
            <a:solidFill>
              <a:srgbClr val="1F2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Seed data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2,000 customers
~24k transactions</a:t>
            </a:r>
          </a:p>
        </p:txBody>
      </p:sp>
      <p:sp>
        <p:nvSpPr>
          <p:cNvPr id="5" name="Can 4"/>
          <p:cNvSpPr/>
          <p:nvPr/>
        </p:nvSpPr>
        <p:spPr>
          <a:xfrm>
            <a:off x="315468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03320" y="2651760"/>
            <a:ext cx="2651760" cy="1554480"/>
          </a:xfrm>
          <a:prstGeom prst="roundRect">
            <a:avLst/>
          </a:prstGeom>
          <a:solidFill>
            <a:srgbClr val="4E79A7"/>
          </a:solidFill>
          <a:ln>
            <a:solidFill>
              <a:srgbClr val="4E7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 synthesizers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SDV: HMA·CTGAN
PAR·TVAE  +  DP</a:t>
            </a:r>
          </a:p>
        </p:txBody>
      </p:sp>
      <p:sp>
        <p:nvSpPr>
          <p:cNvPr id="7" name="Can 6"/>
          <p:cNvSpPr/>
          <p:nvPr/>
        </p:nvSpPr>
        <p:spPr>
          <a:xfrm>
            <a:off x="644652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95160" y="2651760"/>
            <a:ext cx="2286000" cy="1554480"/>
          </a:xfrm>
          <a:prstGeom prst="roundRect">
            <a:avLst/>
          </a:prstGeom>
          <a:solidFill>
            <a:srgbClr val="59A14F"/>
          </a:solidFill>
          <a:ln>
            <a:solidFill>
              <a:srgbClr val="59A1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Evaluation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SDMetrics +
custom metrics</a:t>
            </a:r>
          </a:p>
        </p:txBody>
      </p:sp>
      <p:sp>
        <p:nvSpPr>
          <p:cNvPr id="9" name="Can 8"/>
          <p:cNvSpPr/>
          <p:nvPr/>
        </p:nvSpPr>
        <p:spPr>
          <a:xfrm>
            <a:off x="937260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21240" y="2651760"/>
            <a:ext cx="1783080" cy="1554480"/>
          </a:xfrm>
          <a:prstGeom prst="roundRect">
            <a:avLst/>
          </a:prstGeom>
          <a:solidFill>
            <a:srgbClr val="E15759"/>
          </a:solidFill>
          <a:ln>
            <a:solidFill>
              <a:srgbClr val="E15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DeepSeek
recommender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37"/>
                </a:solidFill>
                <a:latin typeface="Calibri"/>
              </a:rPr>
              <a:t>Constraints (SDV CAG) are attached to every synthesizer before fitting —</a:t>
            </a:r>
          </a:p>
          <a:p>
            <a:pPr algn="l"/>
            <a:r>
              <a:rPr sz="1700" b="0" i="0">
                <a:solidFill>
                  <a:srgbClr val="5B6670"/>
                </a:solidFill>
                <a:latin typeface="Calibri"/>
              </a:rPr>
              <a:t>so validity is guaranteed at generation time, not patched afterward.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SEED DATA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The ground truth: rule-driven seed data</a:t>
            </a:r>
          </a:p>
        </p:txBody>
      </p:sp>
      <p:pic>
        <p:nvPicPr>
          <p:cNvPr id="4" name="Picture 3" descr="see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8918"/>
            <a:ext cx="10972800" cy="3260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Income↔occupation, credit eligibility, age→channel — the real structure all four methods must reproduce.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METHODS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Five synthesis strategies — SDV vs OpenDP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783080"/>
          <a:ext cx="106070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566160"/>
                <a:gridCol w="1828800"/>
                <a:gridCol w="4389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Synthesizer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4E79A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HMA + Gaussian Copula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Joint structure, native FK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8E2B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Sharp marginals, timing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59A14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CTGAN + 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Temporal / cross-table context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E15759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Smooth, stable, correlated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SmartNoise MST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OpenDP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(ε, δ)-differential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02920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M1–M4 (SDV) optimise statistical fidelity; M5 (SmartNoise/OpenDP) adds a formal privacy guarantee.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Same seed data and metadata — only the synthesizer changes, so the comparison is clean.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SDV CAG CONSTRAINTS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Constraints make output valid, not just realistic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1089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Field(s)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product_id ↔ product_category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FixedCombinations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category must match the product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ScalarInequality ≥ 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no negative amounts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num_dependents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FixedIncrements(1)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whole-number counts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credit_score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ScalarRange [300, 850]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valid FICO range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tenure_years ≤ age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Inequality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can't bank longer than you've lived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Attached via synth.add_constraints([...]) before fit — guaranteed in every sampled row.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Scalar* use SDV's legacy dict form (not in sdv.cag); the rest are native CAG classes.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VALIDITY CHECK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Adherence: every rule holds (one caveat)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463040"/>
                <a:gridCol w="201168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prod/cat drift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deps whole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credit∈[300,850]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tenure≤age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amount≥0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C62828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M5 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M1 / M2 / M4 (SDV constraints) and M5 (DP + post-processing) satisfy every rule, 0 orphan FKs.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M3 keeps 15 product/category drifts — PAR merges the two columns and rejects FixedCombinations.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EVALUATION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we measure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SDMetrics — standard fidelity: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Column shapes (marginals) · Column pair trends (within-table correlation)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Diagnostic — referential integrity, boundaries, coverage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Custom metrics — what the use case actually needs: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Cross-table MAD ↓ — mean |Δ| of feature→product-category Spearman corr (real vs synth)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Temporal realism — inter-arrival KS test + amount autocorrelation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Key idea: we score correlations and business signal, not just histograms.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HOW THEY'RE COMPUTED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Metrics — fidelity (SDMetrics)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74519"/>
          <a:ext cx="101498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4572000"/>
                <a:gridCol w="6400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How it's computed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↑/↓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Cust. Shapes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Per-column marginals (customers)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avg KSComplement (num) / TVComplement (cat)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Txn.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Per-column marginals (transactions)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same complements on transaction columns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Pairwise column relationships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avg CorrelationSimilarity / ContingencySimilarity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Validity &amp; structure (not fidelity)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ranges · categories · keys · FK integrity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KSComplement = 1 − KS distance · TVComplement = 1 − total-variation distance (1.0 = identical).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Overall quality score = average of Column Shapes and Column Pair Trends.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HOW THEY'RE COMPUTED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Metrics — correlation, temporal &amp; privacy (custom + SDMetrics)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4572000"/>
                <a:gridCol w="640080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How it's computed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↑/↓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feature → product-category signal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mean |Δ Spearman(feature, %category)|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Within-table corr MAE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customer column correlations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mean |Δ Pearson| over off-diagonal pairs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IA KS p-value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transaction timing realism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KS test on days-between-consecutive-txns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sequential spend pattern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|Δ mean lag-1 autocorrelation of amount|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NewRowSynthesis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verbatim copying (privacy)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% synthetic rows not matching a real row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DCR protection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memorisation (privacy)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synth→real nearest-neighbour dist vs baseline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257800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Autocorr = a column vs its own past (over time); corr MAE = between different columns (same row).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Privacy metrics (SDMetrics) measure leakage; M5 alone adds a formal (ε, δ)-DP guarantee.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RESULTS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All methods, all metrics</a:t>
            </a:r>
          </a:p>
        </p:txBody>
      </p:sp>
      <p:pic>
        <p:nvPicPr>
          <p:cNvPr id="4" name="Picture 3" descr="comparis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781" y="1554480"/>
            <a:ext cx="9240276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Normalised so higher = better on every axis. No single method dominates — the trade-offs are the 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FIDELITY SCORECARD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SDMetrics Quality Report</a:t>
            </a:r>
          </a:p>
        </p:txBody>
      </p:sp>
      <p:pic>
        <p:nvPicPr>
          <p:cNvPr id="4" name="Picture 3" descr="quality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94290"/>
            <a:ext cx="8229600" cy="38009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052560" y="1691640"/>
            <a:ext cx="2834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Overall = mean of
Column Shapes &amp;
Column Pair Trends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M1 ≈ M4 lead overall (0.89) — strong on both halves.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M5 wins customer pair trends (0.85) but on raw numeric correlation it's worst (see in-table slide).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M2 best on transaction shapes (0.91), weak on pair trends.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M3 trails everywhere (0.65) — PAR sacrifices marginals for sequence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SDMetrics QualityReport overall score decomposed into its sub-components, per method.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CROSS-TABLE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Does income still predict products?</a:t>
            </a:r>
          </a:p>
        </p:txBody>
      </p:sp>
      <p:pic>
        <p:nvPicPr>
          <p:cNvPr id="4" name="Picture 3" descr="cross_tabl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50784"/>
            <a:ext cx="11155680" cy="15050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Feature→category Spearman correlations. Weak for every method — the cross-table signal is the hardest to keep.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IN-TABLE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Within-customer correlation: M1 dominates</a:t>
            </a:r>
          </a:p>
        </p:txBody>
      </p:sp>
      <p:pic>
        <p:nvPicPr>
          <p:cNvPr id="4" name="Picture 3" descr="in_tabl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53" y="1508760"/>
            <a:ext cx="7264812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1737360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79A7"/>
                </a:solidFill>
                <a:latin typeface="Calibri"/>
              </a:rPr>
              <a:t>MAE vs Real ↓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4E79A7"/>
                </a:solidFill>
                <a:latin typeface="Calibri"/>
              </a:rPr>
              <a:t>M1  0.029   (Gaussian Copula)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E15759"/>
                </a:solidFill>
                <a:latin typeface="Calibri"/>
              </a:rPr>
              <a:t>M4  0.056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F28E2B"/>
                </a:solidFill>
                <a:latin typeface="Calibri"/>
              </a:rPr>
              <a:t>M2  0.132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59A14F"/>
                </a:solidFill>
                <a:latin typeface="Calibri"/>
              </a:rPr>
              <a:t>M3  0.139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B07AA1"/>
                </a:solidFill>
                <a:latin typeface="Calibri"/>
              </a:rPr>
              <a:t>M5  0.225   (DP cost)</a:t>
            </a:r>
          </a:p>
          <a:p>
            <a:pPr algn="l"/>
            <a:r>
              <a:rPr sz="1200" b="0" i="1">
                <a:solidFill>
                  <a:srgbClr val="5B6670"/>
                </a:solidFill>
                <a:latin typeface="Calibri"/>
              </a:rPr>
              <a:t>M1 reproduces income↔credit↔age ~2–8× better; M5 (best marginals) is worst on correlation.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Pearson correlation of customer numeric columns — Real vs each method (MAE over off-diagonal pairs).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CORRELATION SUMMARY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Correlation scorecard — all methods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63040" y="1920240"/>
          <a:ext cx="9235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286000"/>
                <a:gridCol w="2103120"/>
                <a:gridCol w="201168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Within-table
corr MAE 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Cross-table
MAD 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Cust. pair
trends ↑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4E79A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0.029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0.737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8E2B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0.132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0.394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0.567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59A14F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0.139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0.296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0.547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E15759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0.392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0.780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M5 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0.225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0.850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074920"/>
            <a:ext cx="10607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M1 owns the raw numeric correlation matrix (within-table MAE 0.029); M4 second (0.056).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SDMetrics pair trends (num+cat) favours M5 (0.850), but its raw numeric correlations are worst.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Cross-table (income→product) stays weak for all — M3 least bad.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7A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B07AA1"/>
                </a:solidFill>
                <a:latin typeface="Calibri"/>
              </a:rPr>
              <a:t>METHOD 5 · THE GUARANTEE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differential privacy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600200"/>
            <a:ext cx="10607040" cy="1097280"/>
          </a:xfrm>
          <a:prstGeom prst="roundRect">
            <a:avLst/>
          </a:prstGeom>
          <a:solidFill>
            <a:srgbClr val="F3F5F7"/>
          </a:solidFill>
          <a:ln>
            <a:solidFill>
              <a:srgbClr val="B07A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F2A37"/>
                </a:solidFill>
                <a:latin typeface="Calibri"/>
              </a:rPr>
              <a:t>Add or remove any one person   →   P(output | with you)  ≤  e^ε · P(output | without you)</a:t>
            </a:r>
          </a:p>
          <a:p>
            <a:pPr algn="ctr"/>
            <a:r>
              <a:rPr sz="1300" b="0" i="0">
                <a:solidFill>
                  <a:srgbClr val="5B6670"/>
                </a:solidFill>
                <a:latin typeface="Calibri"/>
              </a:rPr>
              <a:t>The two clouds of possible outputs stay nearly identical — your footprint hides in the noise.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1060704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A mathematical promise about the algorithm, not a property of the output — provable, not measured after the fact.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ε (privacy budget): small ε = strong privacy, blurry data; large ε = sharp data, weak privacy. Pipeline ≈ 3 / table.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δ: tiny probability the guarantee is allowed to fail (needed by the Gaussian mechanism).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Mechanism: add calibrated noise to aggregates — noise ∝ sensitivity / ε (how much one person can move the result).</a:t>
            </a:r>
          </a:p>
          <a:p>
            <a:pPr algn="l" lvl="1">
              <a:spcAft>
                <a:spcPts val="800"/>
              </a:spcAft>
            </a:pPr>
            <a:r>
              <a:rPr sz="1250" b="0" i="0">
                <a:solidFill>
                  <a:srgbClr val="5B6670"/>
                </a:solidFill>
                <a:latin typeface="Calibri"/>
              </a:rPr>
              <a:t>–  Never noise individual rows — noise the counts / histograms, then build data from those.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Composition: customers (ε=3) + transactions (ε=3) → ε ≈ 6 for someone in both tables.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Post-processing immunity: anything computed from DP output stays DP — you can't 'use it up'.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7A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B07AA1"/>
                </a:solidFill>
                <a:latin typeface="Calibri"/>
              </a:rPr>
              <a:t>METHOD 5 · THE MECHANISM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SmartNoise / MST builds M5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MST (private-PGM family): marginal-based — it learns noisy summaries and never memorises rows.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1 · Discretize — bucket every column into bins; privately learns the ranges (preprocessor_eps).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2 · Noisy 1-way marginals — per-column histograms with Gaussian noise added to every count.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3 · Maximum spanning tree — privately find the most-correlated column pairs and keep the tree that connects all columns; only those 2-way marginals are measured (+ noise).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4 · Fit a graphical model (Markov Random Field) consistent with the noisy marginals — pure post-processing, zero extra ε.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5 · Sample new rows from the fitted model.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Runs once per table (customers, transactions) → per-table ε composes to ≈ 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5212080"/>
            <a:ext cx="10607040" cy="1143000"/>
          </a:xfrm>
          <a:prstGeom prst="roundRect">
            <a:avLst/>
          </a:prstGeom>
          <a:solidFill>
            <a:srgbClr val="F3F5F7"/>
          </a:solidFill>
          <a:ln>
            <a:solidFill>
              <a:srgbClr val="B07A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B07AA1"/>
                </a:solidFill>
                <a:latin typeface="Calibri"/>
              </a:rPr>
              <a:t>Why M5 looks the way it does</a:t>
            </a:r>
          </a:p>
          <a:p>
            <a:pPr algn="l"/>
            <a:r>
              <a:rPr sz="1250" b="0" i="0">
                <a:solidFill>
                  <a:srgbClr val="1F2A37"/>
                </a:solidFill>
                <a:latin typeface="Calibri"/>
              </a:rPr>
              <a:t>Guarantee by construction · only measured marginals survive (off-tree structure like per-customer sequencing is lost → autocorr collapses) · faithful marginals sit close to real rows → low DCR.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7A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B07AA1"/>
                </a:solidFill>
                <a:latin typeface="Calibri"/>
              </a:rPr>
              <a:t>PRIVACY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Privacy: guarantee ≠ measured protection</a:t>
            </a:r>
          </a:p>
        </p:txBody>
      </p:sp>
      <p:pic>
        <p:nvPicPr>
          <p:cNvPr id="4" name="Picture 3" descr="privacy_d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4117"/>
            <a:ext cx="6949440" cy="30269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73736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07AA1"/>
                </a:solidFill>
                <a:latin typeface="Calibri"/>
              </a:rPr>
              <a:t>Two notions of privacy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M5 (SmartNoise) is the ONLY method with a formal (ε≈6, δ)-DP guarantee.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But on measured DCR it is the LEAST protected (0.57) — M3 most (0.74).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DP bounds one person's worst-case influence; DCR measures average closeness to real rows.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M5's faithful marginals sit closest to real data → lowest DCR.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NewRowSynthesis = 1.0 for all (no verbatim copies).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Fidelity and record-distance trade off — a guarantee ≠ best DCR.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DCRBaselineProtection on the customers table (higher = more protected) — measured with SDMetrics.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7A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B07AA1"/>
                </a:solidFill>
                <a:latin typeface="Calibri"/>
              </a:rPr>
              <a:t>MEASURED PRIVACY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Can we measure privacy? A membership-inference audit</a:t>
            </a:r>
          </a:p>
        </p:txBody>
      </p:sp>
      <p:pic>
        <p:nvPicPr>
          <p:cNvPr id="4" name="Picture 3" descr="priva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06898"/>
            <a:ext cx="8275320" cy="32728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23960" y="1691640"/>
            <a:ext cx="3063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B07AA1"/>
                </a:solidFill>
                <a:latin typeface="Calibri"/>
              </a:rPr>
              <a:t>ε is accounted, not measured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• Guarantee (ε) = worst-case bookkeeping from the accountant — can't be read off the data.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• Measurable instead: attacker AUC separating training members from fresh non-members.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• B=300 bootstrap: every method's AUC interval straddles 0.50 → no significant leakage.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• Clopper-Pearson empirical ε = 0 for all — no certifiable leak, far under M5's ε≈6 budget.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• Average AUC can miss worst-case records; M5's DP bound is the only per-record, any-scale guarantee.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Members = real training rows; non-members = fresh draw from the same process. AUC 0.5 = no leakage; ε via Clopper-Pearson 95% lower bound (B=300 bootstrap CIs on AUC).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DISTRIBUTIONS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Marginal fidelity</a:t>
            </a:r>
          </a:p>
        </p:txBody>
      </p:sp>
      <p:pic>
        <p:nvPicPr>
          <p:cNvPr id="4" name="Picture 3" descr="dist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625" y="1600200"/>
            <a:ext cx="3600450" cy="2057400"/>
          </a:xfrm>
          <a:prstGeom prst="rect">
            <a:avLst/>
          </a:prstGeom>
        </p:spPr>
      </p:pic>
      <p:pic>
        <p:nvPicPr>
          <p:cNvPr id="5" name="Picture 4" descr="dist_in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042" y="1600200"/>
            <a:ext cx="3595254" cy="2057400"/>
          </a:xfrm>
          <a:prstGeom prst="rect">
            <a:avLst/>
          </a:prstGeom>
        </p:spPr>
      </p:pic>
      <p:pic>
        <p:nvPicPr>
          <p:cNvPr id="6" name="Picture 5" descr="dist_cr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25" y="3886200"/>
            <a:ext cx="3600450" cy="2057400"/>
          </a:xfrm>
          <a:prstGeom prst="rect">
            <a:avLst/>
          </a:prstGeom>
        </p:spPr>
      </p:pic>
      <p:pic>
        <p:nvPicPr>
          <p:cNvPr id="7" name="Picture 6" descr="dist_ten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9444" y="3886200"/>
            <a:ext cx="3600450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Real (grey fill) vs each method (coloured outline) — per variable for easier comparison.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VERDICT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Results at 2,000 seeds · ~12 txns — SDV vs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8412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"/>
                <a:gridCol w="868680"/>
                <a:gridCol w="868680"/>
                <a:gridCol w="868680"/>
                <a:gridCol w="868680"/>
                <a:gridCol w="1783080"/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Winner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Overall 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0.888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0.647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0.861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M1≈M4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 / FK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0.744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tie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 trends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0.737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0.567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0.780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Txn. column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0.865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0.908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 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0.394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0.296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0.392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 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0.011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0.041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0.028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0.569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Diff.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DCR protection 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281160" y="173736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E79A7"/>
                </a:solidFill>
                <a:latin typeface="Calibri"/>
              </a:rPr>
              <a:t>Pick by need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M1 ≈ M4 — best all-round fidelity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M1 — demographic correlations (recommender)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M2 — transaction shapes &amp; timing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M5 — the only privacy guarantee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M3 — cross-table &amp; DCR, low utility</a:t>
            </a:r>
          </a:p>
          <a:p>
            <a:pPr algn="l"/>
            <a:r>
              <a:rPr sz="1200" b="0" i="1">
                <a:solidFill>
                  <a:srgbClr val="B07AA1"/>
                </a:solidFill>
                <a:latin typeface="Calibri"/>
              </a:rPr>
              <a:t>More data closed M5's quality lead; 12 txns/cust exposed its temporal gap.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ROBUSTNESS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Are the differences real? 95% bootstrap CIs</a:t>
            </a:r>
          </a:p>
        </p:txBody>
      </p:sp>
      <p:pic>
        <p:nvPicPr>
          <p:cNvPr id="4" name="Picture 3" descr="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10343"/>
            <a:ext cx="8046720" cy="426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32520" y="1737360"/>
            <a:ext cx="3154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79A7"/>
                </a:solidFill>
                <a:latin typeface="Calibri"/>
              </a:rPr>
              <a:t>What the overlap tells us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B=200 resamples of customers (+ their txns); whiskers = 2.5–97.5%.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M1 ≈ M4 on quality — CIs overlap, so the tie is real, not noise.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Cross-table: only M3 separates; M1/M2/M4/M5 are statistically tied.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M5 leads pair trends (lower CI 0.80 &gt; M4's 0.79) — a genuine edge.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M5's autocorr (~0.57) and lowest DCR are clear-cut, non-overlapping.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M5's quality CI is the widest — DP randomness makes it least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Median ± 95% percentile CI per metric (privacy at B=40, subsample 500). Non-overlapping intervals = a real difference.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15759"/>
                </a:solidFill>
                <a:latin typeface="Calibri"/>
              </a:rPr>
              <a:t>APPLICATION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Closing the loop: LLM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F2A37"/>
                </a:solidFill>
                <a:latin typeface="Calibri"/>
              </a:rPr>
              <a:t>Feed a synthetic M1 customer profile to DeepSeek (deepseek-chat) → 3 ranked products.</a:t>
            </a:r>
          </a:p>
          <a:p>
            <a:pPr algn="l"/>
            <a:r>
              <a:rPr sz="1400" b="0" i="1">
                <a:solidFill>
                  <a:srgbClr val="5B6670"/>
                </a:solidFill>
                <a:latin typeface="Calibri"/>
              </a:rPr>
              <a:t>Synthetic customer C01502 — 39, Retired, income ~$135k, credit 699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743200"/>
          <a:ext cx="106070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291840"/>
                <a:gridCol w="6675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Credit Card Basic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solid credit, high income, holds no credit card → build history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Investment Fund A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high income + long tenure → diversify, low entry, medium risk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Health Insurance Basic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already holds premium health → low-cost secondary coverage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937760"/>
            <a:ext cx="1060704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Catalog cached in the system prompt — repeat calls hit 512 cached tokens.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Proves the synthetic data is fit for a real downstream task.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WRAP-UP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Method choice is task-dependent — and the leaderboard moved when we scaled to 2k × 12 txns.</a:t>
            </a:r>
          </a:p>
          <a:p>
            <a:pPr algn="l" lvl="1">
              <a:spcAft>
                <a:spcPts val="11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Privacy guarantee? M5. All-round fidelity / correlations? M1 ≈ M4. Transaction timing? M2.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More data closed M5's quality lead; more transactions exposed its missing temporal model.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A DP guarantee (M5) ≠ best measured DCR (M3): guarantee and empirical leakage are different axes.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Constraints turn 'realistic-looking' data into provably valid data.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End-to-end &amp; reproducible: seed → synthesize → evaluate (+privacy) → recommend, one notebook.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Code: src/{methods,constraints,evaluate,llm_suggest}.py  ·  synthetic_data_pipeline.ipynb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